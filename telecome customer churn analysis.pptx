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8" r:id="rId3"/>
    <p:sldId id="259" r:id="rId4"/>
    <p:sldId id="261" r:id="rId5"/>
    <p:sldId id="262" r:id="rId6"/>
    <p:sldId id="257" r:id="rId7"/>
    <p:sldId id="268" r:id="rId8"/>
    <p:sldId id="269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powerbi.com/links/iC1yIlhXMd?ctid=105380c3-c370-41aa-b6f3-80cb7ebab624&amp;pbi_source=linkShare&amp;portalSessionId=86d52238-53b7-41a6-9e64-366dd7ac6f45&amp;fromEntryPoint=share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powerbi.com/links/iC1yIlhXMd?ctid=105380c3-c370-41aa-b6f3-80cb7ebab624&amp;pbi_source=linkShare&amp;portalSessionId=86d52238-53b7-41a6-9e64-366dd7ac6f45&amp;fromEntryPoint=share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0DEE12-4BAF-4600-B486-21D659E27C61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4FD4268-2B60-4583-B53C-0D1B1512195D}">
      <dgm:prSet/>
      <dgm:spPr/>
      <dgm:t>
        <a:bodyPr/>
        <a:lstStyle/>
        <a:p>
          <a:r>
            <a:rPr lang="en-IN" dirty="0">
              <a:hlinkClick xmlns:r="http://schemas.openxmlformats.org/officeDocument/2006/relationships" r:id="rId1"/>
            </a:rPr>
            <a:t>Click Here</a:t>
          </a:r>
          <a:r>
            <a:rPr lang="en-IN" dirty="0"/>
            <a:t> </a:t>
          </a:r>
        </a:p>
      </dgm:t>
    </dgm:pt>
    <dgm:pt modelId="{A49F760A-4700-41B7-9501-8C2A5733DACF}" type="parTrans" cxnId="{C3D1B283-3EB0-4A24-A87E-A772F350F7C4}">
      <dgm:prSet/>
      <dgm:spPr/>
      <dgm:t>
        <a:bodyPr/>
        <a:lstStyle/>
        <a:p>
          <a:endParaRPr lang="en-IN"/>
        </a:p>
      </dgm:t>
    </dgm:pt>
    <dgm:pt modelId="{0C75AB2C-C330-44AC-AACE-FADE93FA1434}" type="sibTrans" cxnId="{C3D1B283-3EB0-4A24-A87E-A772F350F7C4}">
      <dgm:prSet/>
      <dgm:spPr/>
      <dgm:t>
        <a:bodyPr/>
        <a:lstStyle/>
        <a:p>
          <a:endParaRPr lang="en-IN"/>
        </a:p>
      </dgm:t>
    </dgm:pt>
    <dgm:pt modelId="{C65DDBCE-DF07-4CA5-B235-574D6B30D840}" type="pres">
      <dgm:prSet presAssocID="{630DEE12-4BAF-4600-B486-21D659E27C6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B46086C8-CCD9-4532-9F07-AD15536750C0}" type="pres">
      <dgm:prSet presAssocID="{64FD4268-2B60-4583-B53C-0D1B1512195D}" presName="circle1" presStyleLbl="node1" presStyleIdx="0" presStyleCnt="1"/>
      <dgm:spPr/>
    </dgm:pt>
    <dgm:pt modelId="{2FBC3538-2145-4518-BE75-6CC6338C72C0}" type="pres">
      <dgm:prSet presAssocID="{64FD4268-2B60-4583-B53C-0D1B1512195D}" presName="space" presStyleCnt="0"/>
      <dgm:spPr/>
    </dgm:pt>
    <dgm:pt modelId="{538FCE1F-5A77-45AD-86FA-A36657B28816}" type="pres">
      <dgm:prSet presAssocID="{64FD4268-2B60-4583-B53C-0D1B1512195D}" presName="rect1" presStyleLbl="alignAcc1" presStyleIdx="0" presStyleCnt="1"/>
      <dgm:spPr/>
    </dgm:pt>
    <dgm:pt modelId="{D7F77E30-3F67-4361-AF88-D4B3CC8C0123}" type="pres">
      <dgm:prSet presAssocID="{64FD4268-2B60-4583-B53C-0D1B1512195D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5226AE40-32E0-4241-B70F-275A68280487}" type="presOf" srcId="{630DEE12-4BAF-4600-B486-21D659E27C61}" destId="{C65DDBCE-DF07-4CA5-B235-574D6B30D840}" srcOrd="0" destOrd="0" presId="urn:microsoft.com/office/officeart/2005/8/layout/target3"/>
    <dgm:cxn modelId="{C3D1B283-3EB0-4A24-A87E-A772F350F7C4}" srcId="{630DEE12-4BAF-4600-B486-21D659E27C61}" destId="{64FD4268-2B60-4583-B53C-0D1B1512195D}" srcOrd="0" destOrd="0" parTransId="{A49F760A-4700-41B7-9501-8C2A5733DACF}" sibTransId="{0C75AB2C-C330-44AC-AACE-FADE93FA1434}"/>
    <dgm:cxn modelId="{6E7DFD91-C848-4076-89CF-BDAD386F195F}" type="presOf" srcId="{64FD4268-2B60-4583-B53C-0D1B1512195D}" destId="{D7F77E30-3F67-4361-AF88-D4B3CC8C0123}" srcOrd="1" destOrd="0" presId="urn:microsoft.com/office/officeart/2005/8/layout/target3"/>
    <dgm:cxn modelId="{11E1B6BD-A50B-4DA3-9D19-A90A2017B786}" type="presOf" srcId="{64FD4268-2B60-4583-B53C-0D1B1512195D}" destId="{538FCE1F-5A77-45AD-86FA-A36657B28816}" srcOrd="0" destOrd="0" presId="urn:microsoft.com/office/officeart/2005/8/layout/target3"/>
    <dgm:cxn modelId="{344FFEE9-45C9-4396-84E5-3BC89F6CDC31}" type="presParOf" srcId="{C65DDBCE-DF07-4CA5-B235-574D6B30D840}" destId="{B46086C8-CCD9-4532-9F07-AD15536750C0}" srcOrd="0" destOrd="0" presId="urn:microsoft.com/office/officeart/2005/8/layout/target3"/>
    <dgm:cxn modelId="{833A5016-E229-4BF0-9845-D8889ADC37AD}" type="presParOf" srcId="{C65DDBCE-DF07-4CA5-B235-574D6B30D840}" destId="{2FBC3538-2145-4518-BE75-6CC6338C72C0}" srcOrd="1" destOrd="0" presId="urn:microsoft.com/office/officeart/2005/8/layout/target3"/>
    <dgm:cxn modelId="{A5486B43-D900-4C7D-8F0A-E4C6C530822A}" type="presParOf" srcId="{C65DDBCE-DF07-4CA5-B235-574D6B30D840}" destId="{538FCE1F-5A77-45AD-86FA-A36657B28816}" srcOrd="2" destOrd="0" presId="urn:microsoft.com/office/officeart/2005/8/layout/target3"/>
    <dgm:cxn modelId="{CDEC9BB6-968C-4E2C-9175-D5E8FBD1568F}" type="presParOf" srcId="{C65DDBCE-DF07-4CA5-B235-574D6B30D840}" destId="{D7F77E30-3F67-4361-AF88-D4B3CC8C0123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086C8-CCD9-4532-9F07-AD15536750C0}">
      <dsp:nvSpPr>
        <dsp:cNvPr id="0" name=""/>
        <dsp:cNvSpPr/>
      </dsp:nvSpPr>
      <dsp:spPr>
        <a:xfrm>
          <a:off x="0" y="0"/>
          <a:ext cx="653793" cy="65379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FCE1F-5A77-45AD-86FA-A36657B28816}">
      <dsp:nvSpPr>
        <dsp:cNvPr id="0" name=""/>
        <dsp:cNvSpPr/>
      </dsp:nvSpPr>
      <dsp:spPr>
        <a:xfrm>
          <a:off x="326897" y="0"/>
          <a:ext cx="3066289" cy="65379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hlinkClick xmlns:r="http://schemas.openxmlformats.org/officeDocument/2006/relationships" r:id="rId1"/>
            </a:rPr>
            <a:t>Click Here</a:t>
          </a:r>
          <a:r>
            <a:rPr lang="en-IN" sz="3000" kern="1200" dirty="0"/>
            <a:t> </a:t>
          </a:r>
        </a:p>
      </dsp:txBody>
      <dsp:txXfrm>
        <a:off x="326897" y="0"/>
        <a:ext cx="3066289" cy="653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20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7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735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36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08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090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634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403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76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05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021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4091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186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5059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991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893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66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828CA04-3CC3-4411-B8ED-6E67C9FF72D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EFCE8ED-973F-4EC5-848F-44E9C9C3F4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4948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lind5" TargetMode="External"/><Relationship Id="rId2" Type="http://schemas.openxmlformats.org/officeDocument/2006/relationships/hyperlink" Target="https://www.linkedin.com/in/milind-bagad-82786a22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C7EB47-E591-8CE7-771C-278F1F5AE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711" y="845820"/>
            <a:ext cx="6886575" cy="3086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91ED92-05BF-5792-D665-7AA15BF76DB2}"/>
              </a:ext>
            </a:extLst>
          </p:cNvPr>
          <p:cNvSpPr txBox="1"/>
          <p:nvPr/>
        </p:nvSpPr>
        <p:spPr>
          <a:xfrm>
            <a:off x="2220579" y="3931920"/>
            <a:ext cx="775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/>
              <a:t>Telecom Customer Churn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2095C-3883-9E3D-1942-B5B89FBD8CB5}"/>
              </a:ext>
            </a:extLst>
          </p:cNvPr>
          <p:cNvSpPr txBox="1"/>
          <p:nvPr/>
        </p:nvSpPr>
        <p:spPr>
          <a:xfrm>
            <a:off x="564516" y="6217920"/>
            <a:ext cx="5270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Presented By:- Milind Bagad  , Darshan Karwa</a:t>
            </a:r>
          </a:p>
        </p:txBody>
      </p:sp>
    </p:spTree>
    <p:extLst>
      <p:ext uri="{BB962C8B-B14F-4D97-AF65-F5344CB8AC3E}">
        <p14:creationId xmlns:p14="http://schemas.microsoft.com/office/powerpoint/2010/main" val="113724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17BEDC-1725-8F75-49B4-0DFD4D2D0995}"/>
              </a:ext>
            </a:extLst>
          </p:cNvPr>
          <p:cNvSpPr txBox="1"/>
          <p:nvPr/>
        </p:nvSpPr>
        <p:spPr>
          <a:xfrm>
            <a:off x="464057" y="1482864"/>
            <a:ext cx="1042644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Hello, </a:t>
            </a:r>
            <a:r>
              <a:rPr lang="en-IN" sz="1800" dirty="0"/>
              <a:t>I am Milind Suresh Bagad.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/>
              <a:t>I have completed my bachelors degree in computer Application (BCA).</a:t>
            </a:r>
            <a:br>
              <a:rPr lang="en-IN" sz="1800" dirty="0"/>
            </a:br>
            <a:br>
              <a:rPr lang="en-IN" sz="1800" dirty="0"/>
            </a:br>
            <a:r>
              <a:rPr lang="en-US" sz="1800" dirty="0"/>
              <a:t>I’m interested in Data Science because I enjoy working with data, finding patterns, and solving real problems. I enjoy learning new things, improving my skills, and working on projects that make a difference</a:t>
            </a:r>
            <a:r>
              <a:rPr lang="en-US" sz="1800" b="1" dirty="0"/>
              <a:t>.</a:t>
            </a:r>
          </a:p>
          <a:p>
            <a:endParaRPr lang="en-US" b="1" dirty="0"/>
          </a:p>
          <a:p>
            <a:r>
              <a:rPr lang="en-US" sz="1600" b="1" dirty="0"/>
              <a:t>Project :- </a:t>
            </a:r>
          </a:p>
          <a:p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Grocery Store Analysis using SQL.</a:t>
            </a:r>
            <a:br>
              <a:rPr lang="en-US" sz="1600" dirty="0"/>
            </a:br>
            <a:br>
              <a:rPr lang="en-US" sz="1600" b="1" dirty="0"/>
            </a:br>
            <a:br>
              <a:rPr lang="en-US" sz="1600" b="1" dirty="0"/>
            </a:br>
            <a:r>
              <a:rPr lang="en-US" sz="1600" dirty="0" err="1"/>
              <a:t>Linkedin</a:t>
            </a:r>
            <a:r>
              <a:rPr lang="en-US" sz="1600" b="1" dirty="0"/>
              <a:t> : </a:t>
            </a:r>
            <a:r>
              <a:rPr lang="en-US" sz="1600" b="1" dirty="0">
                <a:solidFill>
                  <a:schemeClr val="accent1">
                    <a:lumMod val="20000"/>
                    <a:lumOff val="8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https://www.linkedin.com/in/milind-bagad-82786a224</a:t>
            </a:r>
            <a:br>
              <a:rPr lang="en-US" sz="1600" b="1" dirty="0"/>
            </a:br>
            <a:r>
              <a:rPr lang="en-US" sz="1600" b="1" dirty="0"/>
              <a:t> </a:t>
            </a:r>
            <a:br>
              <a:rPr lang="en-US" sz="1600" b="1" dirty="0"/>
            </a:br>
            <a:r>
              <a:rPr lang="en-US" sz="1600" dirty="0"/>
              <a:t>GitHub</a:t>
            </a:r>
            <a:r>
              <a:rPr lang="en-US" sz="1600" b="1" dirty="0"/>
              <a:t> :</a:t>
            </a:r>
            <a:r>
              <a:rPr lang="en-US" sz="1600" b="1" dirty="0">
                <a:solidFill>
                  <a:srgbClr val="E6E6E6"/>
                </a:solidFill>
              </a:rPr>
              <a:t> </a:t>
            </a:r>
            <a:r>
              <a:rPr lang="en-US" sz="1600" b="1" dirty="0">
                <a:solidFill>
                  <a:schemeClr val="accent1">
                    <a:lumMod val="20000"/>
                    <a:lumOff val="8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https://github.com/Milind5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736694-F498-8E7B-F0CA-144316466D72}"/>
              </a:ext>
            </a:extLst>
          </p:cNvPr>
          <p:cNvSpPr txBox="1">
            <a:spLocks/>
          </p:cNvSpPr>
          <p:nvPr/>
        </p:nvSpPr>
        <p:spPr>
          <a:xfrm>
            <a:off x="464057" y="275673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chemeClr val="accent5">
                    <a:lumMod val="75000"/>
                  </a:schemeClr>
                </a:solidFill>
              </a:rPr>
              <a:t>About Me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D3EF39-F0A5-1488-3BFA-4493F5C9A3C0}"/>
              </a:ext>
            </a:extLst>
          </p:cNvPr>
          <p:cNvCxnSpPr>
            <a:cxnSpLocks/>
          </p:cNvCxnSpPr>
          <p:nvPr/>
        </p:nvCxnSpPr>
        <p:spPr>
          <a:xfrm flipH="1">
            <a:off x="354329" y="1078462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9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1B68CF1-E03C-3E0E-3874-5D40A9C104E7}"/>
              </a:ext>
            </a:extLst>
          </p:cNvPr>
          <p:cNvCxnSpPr>
            <a:cxnSpLocks/>
          </p:cNvCxnSpPr>
          <p:nvPr/>
        </p:nvCxnSpPr>
        <p:spPr>
          <a:xfrm flipH="1">
            <a:off x="354329" y="1078462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F99AB4D3-B9AD-C6CE-E069-3BECBACCE3E0}"/>
              </a:ext>
            </a:extLst>
          </p:cNvPr>
          <p:cNvSpPr txBox="1">
            <a:spLocks/>
          </p:cNvSpPr>
          <p:nvPr/>
        </p:nvSpPr>
        <p:spPr>
          <a:xfrm>
            <a:off x="354329" y="281686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IN" sz="4800" b="1" dirty="0">
                <a:solidFill>
                  <a:schemeClr val="accent5">
                    <a:lumMod val="75000"/>
                  </a:schemeClr>
                </a:solidFill>
              </a:rPr>
              <a:t>Objective Of 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1DE9B7-BB7B-4ECC-47D9-C21FFFA75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29" y="1680980"/>
            <a:ext cx="1111224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sym typeface="Canva Sans"/>
              </a:rPr>
              <a:t>In today’s competitive telecom market, customer retention has become a major challenge. Many customers are discontinuing their services due to factors like high monthly charges, limited support, poor interne service experience, or short-term contracts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customer behavior, service usage, billing patterns, and contract types to understand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customers churn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high-risk customer segments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tenure, contract, payment method, and services subscribed.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impact of churn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comparing retained revenue vs. lost revenue.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help business teams design effective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retention strategies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791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7106-73B1-044E-6DF2-AE44486B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9795A5-3EB9-7F81-5DB3-A3E7BF1BC6BF}"/>
              </a:ext>
            </a:extLst>
          </p:cNvPr>
          <p:cNvCxnSpPr>
            <a:cxnSpLocks/>
          </p:cNvCxnSpPr>
          <p:nvPr/>
        </p:nvCxnSpPr>
        <p:spPr>
          <a:xfrm flipH="1">
            <a:off x="354329" y="1078462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ACEC03AE-E930-D585-1170-4AD5FA8F6324}"/>
              </a:ext>
            </a:extLst>
          </p:cNvPr>
          <p:cNvSpPr txBox="1">
            <a:spLocks/>
          </p:cNvSpPr>
          <p:nvPr/>
        </p:nvSpPr>
        <p:spPr>
          <a:xfrm>
            <a:off x="354329" y="281686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4800" b="1" dirty="0">
                <a:solidFill>
                  <a:schemeClr val="accent5">
                    <a:lumMod val="75000"/>
                  </a:schemeClr>
                </a:solidFill>
              </a:rPr>
              <a:t>Approach To Prove The Business Objective </a:t>
            </a:r>
            <a:endParaRPr lang="en-IN" sz="4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C112D7-174B-A987-4D79-CBA5535D3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29" y="1729603"/>
            <a:ext cx="1199768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overall churn magnitude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high-risk customer segments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impact of service usage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 demographic influence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pricing and tenure relationship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revenue impact of churn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interactive business exploration</a:t>
            </a:r>
          </a:p>
        </p:txBody>
      </p:sp>
    </p:spTree>
    <p:extLst>
      <p:ext uri="{BB962C8B-B14F-4D97-AF65-F5344CB8AC3E}">
        <p14:creationId xmlns:p14="http://schemas.microsoft.com/office/powerpoint/2010/main" val="28161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64AD4-F4E9-7186-A1AD-2B64787F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80BA1F0-38B8-8110-B1F6-47CFC99CF1CA}"/>
              </a:ext>
            </a:extLst>
          </p:cNvPr>
          <p:cNvCxnSpPr>
            <a:cxnSpLocks/>
          </p:cNvCxnSpPr>
          <p:nvPr/>
        </p:nvCxnSpPr>
        <p:spPr>
          <a:xfrm flipH="1">
            <a:off x="354329" y="1078462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36F156DA-9BB4-17AC-5330-88163D9E4E83}"/>
              </a:ext>
            </a:extLst>
          </p:cNvPr>
          <p:cNvSpPr txBox="1">
            <a:spLocks/>
          </p:cNvSpPr>
          <p:nvPr/>
        </p:nvSpPr>
        <p:spPr>
          <a:xfrm>
            <a:off x="354329" y="281686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3700" b="1" dirty="0">
                <a:solidFill>
                  <a:schemeClr val="accent5">
                    <a:lumMod val="75000"/>
                  </a:schemeClr>
                </a:solidFill>
                <a:sym typeface="Bebas Neue Cyrillic"/>
              </a:rPr>
              <a:t>Data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21A46-D0A5-5C20-84ED-8F15730A095B}"/>
              </a:ext>
            </a:extLst>
          </p:cNvPr>
          <p:cNvSpPr txBox="1"/>
          <p:nvPr/>
        </p:nvSpPr>
        <p:spPr>
          <a:xfrm>
            <a:off x="354329" y="1548177"/>
            <a:ext cx="9868662" cy="443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80"/>
              </a:lnSpc>
            </a:pPr>
            <a:r>
              <a:rPr lang="en-US" b="1" dirty="0">
                <a:solidFill>
                  <a:srgbClr val="FF3131"/>
                </a:solidFill>
                <a:latin typeface="Canva Sans Bold"/>
                <a:sym typeface="Canva Sans Bold"/>
              </a:rPr>
              <a:t>Dataset Used </a:t>
            </a:r>
            <a:r>
              <a:rPr lang="en-US" b="1" dirty="0">
                <a:solidFill>
                  <a:srgbClr val="FF3131"/>
                </a:solidFill>
                <a:latin typeface="Canva Sans Bold"/>
                <a:sym typeface="Canva Sans"/>
              </a:rPr>
              <a:t>:-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20202"/>
                </a:solidFill>
                <a:latin typeface="Canva Sans"/>
                <a:ea typeface="Canva Sans"/>
                <a:cs typeface="Canva Sans"/>
                <a:sym typeface="Canva Sans"/>
              </a:rPr>
              <a:t>              </a:t>
            </a:r>
            <a:r>
              <a:rPr lang="en-US" dirty="0">
                <a:latin typeface="Arial" panose="020B0604020202020204" pitchFamily="34" charset="0"/>
                <a:sym typeface="Canva Sans"/>
              </a:rPr>
              <a:t>Telecom Customer Churn Data (7,042 records,21 columns)</a:t>
            </a:r>
          </a:p>
          <a:p>
            <a:pPr>
              <a:lnSpc>
                <a:spcPts val="3080"/>
              </a:lnSpc>
            </a:pPr>
            <a:r>
              <a:rPr lang="en-US" b="1" dirty="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Steps Taken :-</a:t>
            </a:r>
          </a:p>
          <a:p>
            <a:pPr marL="800100" lvl="2" indent="-342900" defTabSz="914400" eaLnBrk="0" fontAlgn="base" hangingPunct="0">
              <a:lnSpc>
                <a:spcPts val="2949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sym typeface="Canva Sans"/>
              </a:rPr>
              <a:t>Imported the dataset into Power BI.</a:t>
            </a:r>
          </a:p>
          <a:p>
            <a:pPr marL="800100" lvl="2" indent="-342900" defTabSz="914400" eaLnBrk="0" fontAlgn="base" hangingPunct="0">
              <a:lnSpc>
                <a:spcPts val="2949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sym typeface="Canva Sans"/>
              </a:rPr>
              <a:t>Removed duplicates and handled missing values (mainly in </a:t>
            </a:r>
            <a:r>
              <a:rPr lang="en-US" dirty="0" err="1">
                <a:latin typeface="Arial" panose="020B0604020202020204" pitchFamily="34" charset="0"/>
                <a:sym typeface="Canva Sans"/>
              </a:rPr>
              <a:t>TotalCharges</a:t>
            </a:r>
            <a:r>
              <a:rPr lang="en-US" dirty="0">
                <a:latin typeface="Arial" panose="020B0604020202020204" pitchFamily="34" charset="0"/>
                <a:sym typeface="Canva Sans"/>
              </a:rPr>
              <a:t>).</a:t>
            </a:r>
          </a:p>
          <a:p>
            <a:pPr marL="800100" lvl="2" indent="-342900" defTabSz="914400" eaLnBrk="0" fontAlgn="base" hangingPunct="0">
              <a:lnSpc>
                <a:spcPts val="2949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sym typeface="Canva Sans"/>
              </a:rPr>
              <a:t>Converted data types – e.g., </a:t>
            </a:r>
            <a:r>
              <a:rPr lang="en-US" dirty="0" err="1">
                <a:latin typeface="Arial" panose="020B0604020202020204" pitchFamily="34" charset="0"/>
                <a:sym typeface="Canva Sans"/>
              </a:rPr>
              <a:t>SeniorCitizen</a:t>
            </a:r>
            <a:r>
              <a:rPr lang="en-US" dirty="0">
                <a:latin typeface="Arial" panose="020B0604020202020204" pitchFamily="34" charset="0"/>
                <a:sym typeface="Canva Sans"/>
              </a:rPr>
              <a:t> (0/1 → Yes/No).</a:t>
            </a:r>
          </a:p>
          <a:p>
            <a:pPr marL="800100" lvl="2" indent="-342900" defTabSz="914400" eaLnBrk="0" fontAlgn="base" hangingPunct="0">
              <a:lnSpc>
                <a:spcPts val="2949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sym typeface="Canva Sans"/>
              </a:rPr>
              <a:t>Created new columns like:</a:t>
            </a:r>
          </a:p>
          <a:p>
            <a:pPr marL="1344572" lvl="3" indent="-215086">
              <a:lnSpc>
                <a:spcPts val="2789"/>
              </a:lnSpc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sym typeface="Canva Sans"/>
              </a:rPr>
              <a:t>Tenure (in months )</a:t>
            </a:r>
          </a:p>
          <a:p>
            <a:pPr marL="1344572" lvl="3" indent="-215086">
              <a:lnSpc>
                <a:spcPts val="2789"/>
              </a:lnSpc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sym typeface="Canva Sans"/>
              </a:rPr>
              <a:t>Number of Services</a:t>
            </a:r>
          </a:p>
          <a:p>
            <a:pPr marL="1344572" lvl="3" indent="-215086">
              <a:lnSpc>
                <a:spcPts val="2789"/>
              </a:lnSpc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sym typeface="Canva Sans"/>
              </a:rPr>
              <a:t>% of Partners, Dependents, Senior Citizens</a:t>
            </a:r>
          </a:p>
          <a:p>
            <a:pPr>
              <a:lnSpc>
                <a:spcPts val="2789"/>
              </a:lnSpc>
            </a:pPr>
            <a:endParaRPr lang="en-US" sz="1992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308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091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AEFDBD50-B963-6E29-EA04-5D266A032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9" y="4252837"/>
            <a:ext cx="3139788" cy="2121567"/>
          </a:xfrm>
          <a:prstGeom prst="rect">
            <a:avLst/>
          </a:prstGeom>
        </p:spPr>
      </p:pic>
      <p:pic>
        <p:nvPicPr>
          <p:cNvPr id="10" name="Picture 9" descr="A blue circle with numbers and text&#10;&#10;AI-generated content may be incorrect.">
            <a:extLst>
              <a:ext uri="{FF2B5EF4-FFF2-40B4-BE49-F238E27FC236}">
                <a16:creationId xmlns:a16="http://schemas.microsoft.com/office/drawing/2014/main" id="{67A378E5-97E9-8174-601A-F273B6164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9" y="1078462"/>
            <a:ext cx="3139788" cy="212156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495CD2-44C4-4906-6193-B8DF8D579A76}"/>
              </a:ext>
            </a:extLst>
          </p:cNvPr>
          <p:cNvSpPr txBox="1">
            <a:spLocks/>
          </p:cNvSpPr>
          <p:nvPr/>
        </p:nvSpPr>
        <p:spPr>
          <a:xfrm>
            <a:off x="354328" y="281686"/>
            <a:ext cx="11377423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Customer Base Is Evenly Split Between Male and Female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50CE4A-2D2F-8EF8-53CA-630B419A559F}"/>
              </a:ext>
            </a:extLst>
          </p:cNvPr>
          <p:cNvSpPr txBox="1"/>
          <p:nvPr/>
        </p:nvSpPr>
        <p:spPr>
          <a:xfrm>
            <a:off x="4167378" y="1120676"/>
            <a:ext cx="77106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customer base is almost evenly split between male and female customers, indicating no gender dominance in overall subscriptions.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customer base is almost evenly split between male and female customers, indicating no gender dominance in overall subscriptions.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C58831-EAB0-CDE1-939A-B5E142030A0F}"/>
              </a:ext>
            </a:extLst>
          </p:cNvPr>
          <p:cNvSpPr txBox="1"/>
          <p:nvPr/>
        </p:nvSpPr>
        <p:spPr>
          <a:xfrm>
            <a:off x="354328" y="3581323"/>
            <a:ext cx="946632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Month-to-Month Contracts Drive the Highest Customer Churn</a:t>
            </a:r>
            <a:endParaRPr lang="en-IN" sz="2400" b="1" dirty="0">
              <a:solidFill>
                <a:schemeClr val="accent5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DAEC3-D96B-E7CA-71F4-6E95B2A83FF1}"/>
              </a:ext>
            </a:extLst>
          </p:cNvPr>
          <p:cNvSpPr txBox="1"/>
          <p:nvPr/>
        </p:nvSpPr>
        <p:spPr>
          <a:xfrm>
            <a:off x="4075938" y="4503527"/>
            <a:ext cx="64488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Customers on month-to-month contracts churn significantly more than those on longer-term contracts.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4264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B513-EC1C-150A-948C-D1BDA3AF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e chart with numbers and text">
            <a:extLst>
              <a:ext uri="{FF2B5EF4-FFF2-40B4-BE49-F238E27FC236}">
                <a16:creationId xmlns:a16="http://schemas.microsoft.com/office/drawing/2014/main" id="{15991D8F-F71C-0471-DC51-3738760D4D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249" y="986496"/>
            <a:ext cx="3535679" cy="2301693"/>
          </a:xfrm>
          <a:prstGeom prst="rect">
            <a:avLst/>
          </a:prstGeom>
        </p:spPr>
      </p:pic>
      <p:pic>
        <p:nvPicPr>
          <p:cNvPr id="6" name="Picture 5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1AB06B2B-C852-136F-51EA-ED731BBF0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9" y="4423245"/>
            <a:ext cx="3635076" cy="208567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1734737-DD68-7064-B02D-47C89BFBB2E2}"/>
              </a:ext>
            </a:extLst>
          </p:cNvPr>
          <p:cNvSpPr txBox="1">
            <a:spLocks/>
          </p:cNvSpPr>
          <p:nvPr/>
        </p:nvSpPr>
        <p:spPr>
          <a:xfrm>
            <a:off x="354328" y="281686"/>
            <a:ext cx="11377423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Fiber Optic Customers Contribute the Highest Share of Churn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DD554-CEA4-ABF4-1FB5-91BF5A35F31D}"/>
              </a:ext>
            </a:extLst>
          </p:cNvPr>
          <p:cNvSpPr txBox="1"/>
          <p:nvPr/>
        </p:nvSpPr>
        <p:spPr>
          <a:xfrm>
            <a:off x="354328" y="3581323"/>
            <a:ext cx="946632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Churn Distribution Across Payment Methods</a:t>
            </a:r>
            <a:endParaRPr lang="en-IN" sz="2400" b="1" dirty="0">
              <a:solidFill>
                <a:schemeClr val="accent5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256919-D9FB-BF75-D9EC-691BD4C91781}"/>
              </a:ext>
            </a:extLst>
          </p:cNvPr>
          <p:cNvSpPr txBox="1"/>
          <p:nvPr/>
        </p:nvSpPr>
        <p:spPr>
          <a:xfrm>
            <a:off x="4304538" y="1078462"/>
            <a:ext cx="69425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Fiber optic users account for the largest portion of churn (≈44%), making them the most at-risk customer segment.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DSL customers contribute ~34% of churn, indicating moderate churn risk.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Customers with no internet service show the lowest churn (~22%), suggesting simpler service usage leads to higher retention.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2FC74-CB33-CEA2-93FA-B81A2B850824}"/>
              </a:ext>
            </a:extLst>
          </p:cNvPr>
          <p:cNvSpPr txBox="1"/>
          <p:nvPr/>
        </p:nvSpPr>
        <p:spPr>
          <a:xfrm>
            <a:off x="4496562" y="4108996"/>
            <a:ext cx="69425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Electronic check users have the highest number of churned customers, significantly more than any other payment method.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Mailed check customers show moderate churn, but much lower than electronic check users.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Credit card (automatic) users have the lowest churn, indicating strong customer stability.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711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B21BD-1302-B2E5-2578-D1FA3EDEB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534C424F-3169-541D-14A5-37CAE21B0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11" y="1862324"/>
            <a:ext cx="4686061" cy="236610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1C2B3BD-12A5-BC89-DB99-B82929AEE133}"/>
              </a:ext>
            </a:extLst>
          </p:cNvPr>
          <p:cNvSpPr txBox="1">
            <a:spLocks/>
          </p:cNvSpPr>
          <p:nvPr/>
        </p:nvSpPr>
        <p:spPr>
          <a:xfrm>
            <a:off x="354328" y="281686"/>
            <a:ext cx="11377423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Churn Rate Trend Across Customer Tenure Segments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08223A-43EB-35AC-452F-303AB5B45259}"/>
              </a:ext>
            </a:extLst>
          </p:cNvPr>
          <p:cNvSpPr txBox="1"/>
          <p:nvPr/>
        </p:nvSpPr>
        <p:spPr>
          <a:xfrm>
            <a:off x="5506341" y="1602392"/>
            <a:ext cx="61036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🔴</a:t>
            </a:r>
            <a:r>
              <a:rPr lang="en-US" b="1" dirty="0"/>
              <a:t>High-Risk Segment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Customers in the 0–1 year tenure have the highest churn rate (~45–50%), indicating the most critical risk period.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🟡 </a:t>
            </a:r>
            <a:r>
              <a:rPr lang="en-US" b="1" dirty="0"/>
              <a:t>Medium-Risk Segment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Churn drops sharply after the first year (1–2 years), showing early customer stabilization.</a:t>
            </a:r>
          </a:p>
          <a:p>
            <a:endParaRPr lang="en-US" dirty="0"/>
          </a:p>
          <a:p>
            <a:r>
              <a:rPr lang="en-US" dirty="0"/>
              <a:t>🟢</a:t>
            </a:r>
            <a:r>
              <a:rPr lang="en-US" b="1" dirty="0"/>
              <a:t> Low-Risk Segment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Customers with 5+ years tenure have the lowest churn (~5–7%), proving strong long-term loyalty.</a:t>
            </a:r>
          </a:p>
        </p:txBody>
      </p:sp>
    </p:spTree>
    <p:extLst>
      <p:ext uri="{BB962C8B-B14F-4D97-AF65-F5344CB8AC3E}">
        <p14:creationId xmlns:p14="http://schemas.microsoft.com/office/powerpoint/2010/main" val="141961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F310B-F133-5A60-FD1C-DB4B3C4B0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302" y="914400"/>
            <a:ext cx="9063310" cy="576072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F4F40BA-01DC-22DC-7968-790CFE1CFB0A}"/>
              </a:ext>
            </a:extLst>
          </p:cNvPr>
          <p:cNvSpPr txBox="1">
            <a:spLocks/>
          </p:cNvSpPr>
          <p:nvPr/>
        </p:nvSpPr>
        <p:spPr>
          <a:xfrm>
            <a:off x="354329" y="0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3700" b="1" dirty="0">
                <a:solidFill>
                  <a:schemeClr val="accent5">
                    <a:lumMod val="75000"/>
                  </a:schemeClr>
                </a:solidFill>
                <a:sym typeface="Bebas Neue Cyrillic"/>
              </a:rPr>
              <a:t>Dashboard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5CAE11-8B70-0DF3-EA01-DD6AB45C7746}"/>
              </a:ext>
            </a:extLst>
          </p:cNvPr>
          <p:cNvCxnSpPr>
            <a:cxnSpLocks/>
          </p:cNvCxnSpPr>
          <p:nvPr/>
        </p:nvCxnSpPr>
        <p:spPr>
          <a:xfrm flipH="1">
            <a:off x="442912" y="758422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590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3E87222-0F8A-F86A-CB7A-656E87A2E7C0}"/>
              </a:ext>
            </a:extLst>
          </p:cNvPr>
          <p:cNvSpPr txBox="1">
            <a:spLocks/>
          </p:cNvSpPr>
          <p:nvPr/>
        </p:nvSpPr>
        <p:spPr>
          <a:xfrm>
            <a:off x="354329" y="281686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3700" b="1" dirty="0">
                <a:solidFill>
                  <a:schemeClr val="accent5">
                    <a:lumMod val="75000"/>
                  </a:schemeClr>
                </a:solidFill>
                <a:sym typeface="Bebas Neue Cyrillic"/>
              </a:rPr>
              <a:t>Link To Dashboard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7CC90C-1339-A927-54EA-B2F49AD30FB7}"/>
              </a:ext>
            </a:extLst>
          </p:cNvPr>
          <p:cNvCxnSpPr>
            <a:cxnSpLocks/>
          </p:cNvCxnSpPr>
          <p:nvPr/>
        </p:nvCxnSpPr>
        <p:spPr>
          <a:xfrm flipH="1">
            <a:off x="354329" y="1078462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B66B005-8EA3-50E3-7AED-161F0A272549}"/>
              </a:ext>
            </a:extLst>
          </p:cNvPr>
          <p:cNvGraphicFramePr/>
          <p:nvPr/>
        </p:nvGraphicFramePr>
        <p:xfrm>
          <a:off x="4063363" y="3102101"/>
          <a:ext cx="3393187" cy="653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4173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757700-8A36-4FF5-36AA-D44A845463EC}"/>
              </a:ext>
            </a:extLst>
          </p:cNvPr>
          <p:cNvSpPr txBox="1">
            <a:spLocks/>
          </p:cNvSpPr>
          <p:nvPr/>
        </p:nvSpPr>
        <p:spPr>
          <a:xfrm>
            <a:off x="354329" y="281686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3700" b="1" dirty="0">
                <a:solidFill>
                  <a:schemeClr val="accent5">
                    <a:lumMod val="75000"/>
                  </a:schemeClr>
                </a:solidFill>
                <a:sym typeface="Bebas Neue Cyrillic"/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09C792-9594-6896-74F7-387A251A61CC}"/>
              </a:ext>
            </a:extLst>
          </p:cNvPr>
          <p:cNvCxnSpPr>
            <a:cxnSpLocks/>
          </p:cNvCxnSpPr>
          <p:nvPr/>
        </p:nvCxnSpPr>
        <p:spPr>
          <a:xfrm flipH="1">
            <a:off x="354329" y="1078462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C20EE77-C5B8-00EE-1410-A2D701A03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29" y="1720840"/>
            <a:ext cx="1177061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churn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(~27%)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resulting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substantial revenue loss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telecom business.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Short-tenure customers (0–1 year)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month-to-month contracts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churn 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Fiber Optic internet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 Check payment 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more likely to churn.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value-added 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 Support and Online 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increases churn probability.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Churn directly impacts revenue,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₹2.86M lost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churned customers compared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₹13.19M retained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analysis enables the business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high-risk segments early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take preventive action.</a:t>
            </a:r>
          </a:p>
        </p:txBody>
      </p:sp>
    </p:spTree>
    <p:extLst>
      <p:ext uri="{BB962C8B-B14F-4D97-AF65-F5344CB8AC3E}">
        <p14:creationId xmlns:p14="http://schemas.microsoft.com/office/powerpoint/2010/main" val="478085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484777-C07B-95CE-5217-D3C3967A5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32" y="1188720"/>
            <a:ext cx="8403336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48673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669</TotalTime>
  <Words>697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Bebas Neue Cyrillic</vt:lpstr>
      <vt:lpstr>Canva Sans</vt:lpstr>
      <vt:lpstr>Canva Sans Bold</vt:lpstr>
      <vt:lpstr>Century Gothic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Milind Bagad</dc:creator>
  <cp:lastModifiedBy>Milind Bagad</cp:lastModifiedBy>
  <cp:revision>11</cp:revision>
  <dcterms:created xsi:type="dcterms:W3CDTF">2025-12-14T12:51:43Z</dcterms:created>
  <dcterms:modified xsi:type="dcterms:W3CDTF">2025-12-17T10:13:03Z</dcterms:modified>
</cp:coreProperties>
</file>